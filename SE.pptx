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2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41" autoAdjust="0"/>
  </p:normalViewPr>
  <p:slideViewPr>
    <p:cSldViewPr snapToGrid="0">
      <p:cViewPr varScale="1">
        <p:scale>
          <a:sx n="76" d="100"/>
          <a:sy n="76" d="100"/>
        </p:scale>
        <p:origin x="9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4T20:27:11.92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573.53992"/>
      <inkml:brushProperty name="anchorY" value="1715.50159"/>
      <inkml:brushProperty name="scaleFactor" value="0.5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4T20:31:48.342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1 0,'7840'0,"-7817"0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217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887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09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106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023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115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2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57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3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347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6400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670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9730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635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501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217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0D26B-6B61-4675-9553-0F371C16B4D9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10BBE7D-5EAE-4AF2-A79A-72BD64AD2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892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customXml" Target="../ink/ink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50.png"/><Relationship Id="rId5" Type="http://schemas.openxmlformats.org/officeDocument/2006/relationships/customXml" Target="../ink/ink1.xml"/><Relationship Id="rId4" Type="http://schemas.openxmlformats.org/officeDocument/2006/relationships/image" Target="../media/image5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3.png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6.png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microsoft.com/office/2007/relationships/hdphoto" Target="../media/hdphoto3.wdp"/><Relationship Id="rId5" Type="http://schemas.openxmlformats.org/officeDocument/2006/relationships/image" Target="../media/image25.png"/><Relationship Id="rId10" Type="http://schemas.openxmlformats.org/officeDocument/2006/relationships/image" Target="../media/image2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5" Type="http://schemas.openxmlformats.org/officeDocument/2006/relationships/image" Target="../media/image2.png"/><Relationship Id="rId4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microsoft.com/office/2007/relationships/hdphoto" Target="../media/hdphoto6.wdp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6" Type="http://schemas.openxmlformats.org/officeDocument/2006/relationships/image" Target="../media/image30.png"/><Relationship Id="rId5" Type="http://schemas.microsoft.com/office/2007/relationships/hdphoto" Target="../media/hdphoto5.wdp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D2C86E-CD56-71F6-1FE6-E513C16FFD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817470-4D83-BBCB-45DF-F61CBB202A96}"/>
              </a:ext>
            </a:extLst>
          </p:cNvPr>
          <p:cNvSpPr txBox="1"/>
          <p:nvPr/>
        </p:nvSpPr>
        <p:spPr>
          <a:xfrm>
            <a:off x="489153" y="665248"/>
            <a:ext cx="3048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FFBANK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B0C3F8-9749-95F1-5B93-2BAE72C1A8E2}"/>
              </a:ext>
            </a:extLst>
          </p:cNvPr>
          <p:cNvSpPr/>
          <p:nvPr/>
        </p:nvSpPr>
        <p:spPr>
          <a:xfrm>
            <a:off x="6003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A7022-CD57-9E8D-F77F-2B3DE2A00833}"/>
              </a:ext>
            </a:extLst>
          </p:cNvPr>
          <p:cNvSpPr txBox="1"/>
          <p:nvPr/>
        </p:nvSpPr>
        <p:spPr>
          <a:xfrm>
            <a:off x="2317952" y="4998661"/>
            <a:ext cx="2743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100% trust worthy bank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6DE5AF-DFAC-F059-3449-E0E6112B776F}"/>
              </a:ext>
            </a:extLst>
          </p:cNvPr>
          <p:cNvSpPr txBox="1"/>
          <p:nvPr/>
        </p:nvSpPr>
        <p:spPr>
          <a:xfrm>
            <a:off x="2317954" y="5367993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Best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A827B-892B-51A7-8770-0F48B0517A21}"/>
              </a:ext>
            </a:extLst>
          </p:cNvPr>
          <p:cNvSpPr txBox="1"/>
          <p:nvPr/>
        </p:nvSpPr>
        <p:spPr>
          <a:xfrm>
            <a:off x="2317953" y="5737325"/>
            <a:ext cx="3072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Lones at low interest 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D105B4-854D-0652-65CB-79C5566EC10D}"/>
              </a:ext>
            </a:extLst>
          </p:cNvPr>
          <p:cNvSpPr txBox="1"/>
          <p:nvPr/>
        </p:nvSpPr>
        <p:spPr>
          <a:xfrm>
            <a:off x="2317952" y="6106657"/>
            <a:ext cx="307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Online Website </a:t>
            </a:r>
            <a:r>
              <a:rPr lang="en-IN" dirty="0" err="1"/>
              <a:t>avalible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B2580A-3F7C-439B-1DB6-D02217DBEB8B}"/>
              </a:ext>
            </a:extLst>
          </p:cNvPr>
          <p:cNvSpPr txBox="1"/>
          <p:nvPr/>
        </p:nvSpPr>
        <p:spPr>
          <a:xfrm>
            <a:off x="1258529" y="1305341"/>
            <a:ext cx="43606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Online App</a:t>
            </a:r>
          </a:p>
        </p:txBody>
      </p:sp>
      <p:pic>
        <p:nvPicPr>
          <p:cNvPr id="35" name="Audio 34">
            <a:hlinkClick r:id="" action="ppaction://media"/>
            <a:extLst>
              <a:ext uri="{FF2B5EF4-FFF2-40B4-BE49-F238E27FC236}">
                <a16:creationId xmlns:a16="http://schemas.microsoft.com/office/drawing/2014/main" id="{CAB062FA-3D4D-0FAE-EE05-C7C6B1868B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520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08"/>
    </mc:Choice>
    <mc:Fallback xmlns="">
      <p:transition spd="slow" advTm="102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F8B687-D98A-1463-3EDC-0AD0F13CADC0}"/>
              </a:ext>
            </a:extLst>
          </p:cNvPr>
          <p:cNvSpPr txBox="1"/>
          <p:nvPr/>
        </p:nvSpPr>
        <p:spPr>
          <a:xfrm>
            <a:off x="2566737" y="278974"/>
            <a:ext cx="6456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Table of context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F7463-FF43-C9C5-E74E-77D59761E39F}"/>
              </a:ext>
            </a:extLst>
          </p:cNvPr>
          <p:cNvSpPr txBox="1"/>
          <p:nvPr/>
        </p:nvSpPr>
        <p:spPr>
          <a:xfrm>
            <a:off x="3008670" y="1629048"/>
            <a:ext cx="50931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Overview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Pages of our website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Code of the website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Advantages of our Online webpage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Possible future developments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Software's used to develop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Project progression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Conclusion</a:t>
            </a: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96F44699-D017-D37A-3CDA-591BB5069B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4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6"/>
    </mc:Choice>
    <mc:Fallback xmlns="">
      <p:transition spd="slow" advTm="65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7AF266-2C84-3375-DCBB-5FD7E4FC6E05}"/>
              </a:ext>
            </a:extLst>
          </p:cNvPr>
          <p:cNvSpPr txBox="1"/>
          <p:nvPr/>
        </p:nvSpPr>
        <p:spPr>
          <a:xfrm>
            <a:off x="2374232" y="311058"/>
            <a:ext cx="6456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Overview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E4EAA0-A208-43D5-B837-F246A86D7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232" y="1586683"/>
            <a:ext cx="753395" cy="7533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C724D5-1A27-2356-08BF-9160BD58E9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230" y="2777340"/>
            <a:ext cx="753395" cy="7533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04CA59-A0E2-045C-C353-EF218B9DD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230" y="4074641"/>
            <a:ext cx="753395" cy="7533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6BCF93C-FC2C-4072-530E-5D86A283177E}"/>
              </a:ext>
            </a:extLst>
          </p:cNvPr>
          <p:cNvSpPr txBox="1"/>
          <p:nvPr/>
        </p:nvSpPr>
        <p:spPr>
          <a:xfrm>
            <a:off x="3127625" y="1501715"/>
            <a:ext cx="6853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Contains a wide range of features such as user authentication, loan management, Interfaces for User and Admin with a same website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BD7605-A3B5-F454-F554-EF04807110C3}"/>
              </a:ext>
            </a:extLst>
          </p:cNvPr>
          <p:cNvSpPr txBox="1"/>
          <p:nvPr/>
        </p:nvSpPr>
        <p:spPr>
          <a:xfrm>
            <a:off x="3127625" y="2657955"/>
            <a:ext cx="7207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 also provides the important information such as transaction details , loan details, User details and Balance in the account with a single click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F9A204-C5A7-65B6-432F-1B60916E65EA}"/>
              </a:ext>
            </a:extLst>
          </p:cNvPr>
          <p:cNvSpPr txBox="1"/>
          <p:nvPr/>
        </p:nvSpPr>
        <p:spPr>
          <a:xfrm>
            <a:off x="3127625" y="3851175"/>
            <a:ext cx="73437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Implementing a cheque based transfer of money is one of the feature that we added in this website by just having a picture of the cheque we can carry a transaction And admin will have the details of the cheque Conformation will be manual  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A3A7CBAB-3382-A7E4-26DD-E49A3EF188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38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47"/>
    </mc:Choice>
    <mc:Fallback xmlns="">
      <p:transition spd="slow" advTm="159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9E6515-A361-AA9F-425B-FCC7E0F16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4839" y1="37888" x2="64839" y2="37888"/>
                        <a14:foregroundMark x1="71290" y1="36957" x2="71290" y2="36957"/>
                        <a14:foregroundMark x1="69032" y1="37888" x2="69032" y2="37888"/>
                        <a14:foregroundMark x1="67742" y1="37888" x2="67742" y2="37888"/>
                        <a14:foregroundMark x1="66452" y1="37888" x2="66452" y2="37888"/>
                        <a14:foregroundMark x1="64194" y1="37888" x2="64194" y2="37888"/>
                        <a14:foregroundMark x1="72903" y1="37267" x2="72903" y2="37267"/>
                        <a14:foregroundMark x1="76129" y1="38509" x2="76129" y2="38509"/>
                        <a14:foregroundMark x1="78065" y1="39130" x2="78065" y2="39130"/>
                        <a14:foregroundMark x1="78065" y1="40062" x2="78065" y2="40062"/>
                        <a14:foregroundMark x1="67742" y1="41615" x2="67742" y2="41615"/>
                        <a14:foregroundMark x1="77644" y1="51033" x2="78387" y2="51863"/>
                        <a14:foregroundMark x1="78387" y1="51863" x2="78387" y2="51863"/>
                        <a14:foregroundMark x1="77600" y1="49068" x2="78065" y2="49379"/>
                        <a14:foregroundMark x1="77136" y1="48758" x2="77600" y2="49068"/>
                        <a14:foregroundMark x1="75742" y1="47826" x2="77136" y2="48758"/>
                        <a14:foregroundMark x1="74348" y1="46894" x2="75742" y2="47826"/>
                        <a14:foregroundMark x1="72490" y1="45652" x2="74348" y2="46894"/>
                        <a14:foregroundMark x1="71561" y1="45031" x2="72490" y2="45652"/>
                        <a14:foregroundMark x1="66452" y1="41615" x2="71561" y2="45031"/>
                        <a14:foregroundMark x1="78065" y1="49379" x2="78065" y2="49379"/>
                        <a14:backgroundMark x1="36774" y1="30124" x2="36774" y2="30124"/>
                        <a14:backgroundMark x1="40968" y1="36025" x2="40968" y2="36025"/>
                        <a14:backgroundMark x1="34839" y1="26398" x2="35484" y2="26398"/>
                        <a14:backgroundMark x1="39355" y1="15217" x2="39355" y2="15217"/>
                        <a14:backgroundMark x1="47419" y1="12733" x2="47419" y2="12733"/>
                        <a14:backgroundMark x1="50645" y1="15528" x2="50645" y2="15528"/>
                        <a14:backgroundMark x1="49677" y1="14286" x2="49677" y2="14286"/>
                        <a14:backgroundMark x1="70323" y1="31366" x2="70323" y2="31366"/>
                        <a14:backgroundMark x1="66774" y1="34472" x2="66774" y2="34472"/>
                        <a14:backgroundMark x1="67097" y1="40062" x2="67097" y2="40062"/>
                        <a14:backgroundMark x1="72258" y1="36025" x2="72258" y2="36025"/>
                        <a14:backgroundMark x1="64839" y1="36646" x2="64839" y2="36646"/>
                        <a14:backgroundMark x1="66452" y1="35404" x2="66452" y2="35404"/>
                        <a14:backgroundMark x1="64839" y1="38199" x2="64839" y2="38199"/>
                        <a14:backgroundMark x1="67742" y1="17081" x2="67742" y2="17081"/>
                        <a14:backgroundMark x1="75142" y1="52091" x2="75484" y2="52484"/>
                        <a14:backgroundMark x1="75484" y1="52484" x2="75260" y2="51981"/>
                        <a14:backgroundMark x1="62258" y1="13665" x2="62258" y2="13665"/>
                        <a14:backgroundMark x1="76774" y1="42547" x2="76774" y2="42547"/>
                        <a14:backgroundMark x1="71613" y1="48758" x2="71613" y2="48758"/>
                        <a14:backgroundMark x1="74194" y1="49379" x2="74194" y2="49379"/>
                        <a14:backgroundMark x1="74194" y1="49068" x2="74194" y2="49068"/>
                        <a14:backgroundMark x1="73871" y1="47826" x2="73871" y2="47826"/>
                        <a14:backgroundMark x1="70000" y1="45031" x2="70000" y2="45031"/>
                        <a14:backgroundMark x1="70645" y1="46894" x2="70645" y2="46894"/>
                        <a14:backgroundMark x1="70323" y1="45652" x2="70323" y2="45652"/>
                        <a14:backgroundMark x1="75484" y1="40994" x2="75484" y2="409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490" y="2503435"/>
            <a:ext cx="4483510" cy="46570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06E681-292C-7784-1AF1-0EF135EE491E}"/>
              </a:ext>
            </a:extLst>
          </p:cNvPr>
          <p:cNvSpPr txBox="1"/>
          <p:nvPr/>
        </p:nvSpPr>
        <p:spPr>
          <a:xfrm>
            <a:off x="2266594" y="1580105"/>
            <a:ext cx="68918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Webpage of </a:t>
            </a:r>
            <a:br>
              <a:rPr lang="en-IN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</a:br>
            <a:r>
              <a:rPr lang="en-IN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						Our Bank 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2F49E55C-7465-2636-D8FB-959A2DA71D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8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81"/>
    </mc:Choice>
    <mc:Fallback xmlns="">
      <p:transition spd="slow" advTm="67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513AFB-5B90-770D-0938-E3D7EEA15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50" y="526889"/>
            <a:ext cx="11191359" cy="55986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EF4761-D0C5-470B-F347-EE937264B37D}"/>
                  </a:ext>
                </a:extLst>
              </p14:cNvPr>
              <p14:cNvContentPartPr/>
              <p14:nvPr/>
            </p14:nvContentPartPr>
            <p14:xfrm>
              <a:off x="-206710" y="2094348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EF4761-D0C5-470B-F347-EE937264B3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15350" y="208534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6357D1A-2719-EBE4-1828-58D1A729A762}"/>
                  </a:ext>
                </a:extLst>
              </p14:cNvPr>
              <p14:cNvContentPartPr/>
              <p14:nvPr/>
            </p14:nvContentPartPr>
            <p14:xfrm>
              <a:off x="4581650" y="3909108"/>
              <a:ext cx="283104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6357D1A-2719-EBE4-1828-58D1A729A7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73010" y="3900108"/>
                <a:ext cx="284868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4BEB0BE0-9B6F-97B1-0733-E07D334369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8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99"/>
    </mc:Choice>
    <mc:Fallback xmlns="">
      <p:transition spd="slow" advTm="77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505C21-9B78-88D7-A1C0-C0810572969F}"/>
              </a:ext>
            </a:extLst>
          </p:cNvPr>
          <p:cNvSpPr txBox="1"/>
          <p:nvPr/>
        </p:nvSpPr>
        <p:spPr>
          <a:xfrm>
            <a:off x="2861187" y="5447071"/>
            <a:ext cx="7216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 login page(i.e. if account already registered)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FBBF35-1DD5-C765-15E6-158F9BA56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97" y="717754"/>
            <a:ext cx="10119810" cy="4296481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36FEEFF2-F309-F229-5B54-86F1E0E038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9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5"/>
    </mc:Choice>
    <mc:Fallback xmlns="">
      <p:transition spd="slow" advTm="38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657297-2F64-AE9E-F0AB-E9580DDBB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32" y="438074"/>
            <a:ext cx="10648336" cy="46748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F0E043-DDBA-FBC6-A50C-491C5125B394}"/>
              </a:ext>
            </a:extLst>
          </p:cNvPr>
          <p:cNvSpPr txBox="1"/>
          <p:nvPr/>
        </p:nvSpPr>
        <p:spPr>
          <a:xfrm>
            <a:off x="3647768" y="5614219"/>
            <a:ext cx="523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 Add credentials for the account number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3FE13EAF-EB37-ADDB-24CD-96041C4074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4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66"/>
    </mc:Choice>
    <mc:Fallback xmlns="">
      <p:transition spd="slow" advTm="74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0A5297-3B22-A3B3-D2F9-0BCD95E8B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12" y="467847"/>
            <a:ext cx="10901776" cy="55593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1E55BC-7BEC-6809-AA22-DA6CCED7CA1C}"/>
              </a:ext>
            </a:extLst>
          </p:cNvPr>
          <p:cNvSpPr txBox="1"/>
          <p:nvPr/>
        </p:nvSpPr>
        <p:spPr>
          <a:xfrm>
            <a:off x="5565058" y="6184490"/>
            <a:ext cx="415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Dashboard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FEE1AF25-E9D2-2D6D-DD51-52AB0E55CC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8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80"/>
    </mc:Choice>
    <mc:Fallback xmlns="">
      <p:transition spd="slow" advTm="61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03A56-2D29-F43C-1EFF-10BC12860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65" y="402519"/>
            <a:ext cx="6723029" cy="28823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D48BBB-D23F-934B-DF77-BFE96B5A9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327" y="3686804"/>
            <a:ext cx="6719013" cy="2768677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278F7945-7D62-9869-05F4-A4A574CA36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55"/>
    </mc:Choice>
    <mc:Fallback xmlns="">
      <p:transition spd="slow" advTm="61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136172-B5BB-9EEB-531F-7281237DF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77" y="3489548"/>
            <a:ext cx="7131477" cy="2726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A9C287-0616-4A34-2C04-A0FA7343AB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32" y="642315"/>
            <a:ext cx="6430297" cy="2489260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119A289-9CCF-C82E-1420-2C5C460086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4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41"/>
    </mc:Choice>
    <mc:Fallback xmlns="">
      <p:transition spd="slow" advTm="83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7839E4-CBFE-0F1D-C802-85F3EE1C2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68" y="334297"/>
            <a:ext cx="10279863" cy="55261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2B4D2B-D508-FC4A-2B38-E5B68B6AFE5A}"/>
              </a:ext>
            </a:extLst>
          </p:cNvPr>
          <p:cNvSpPr txBox="1"/>
          <p:nvPr/>
        </p:nvSpPr>
        <p:spPr>
          <a:xfrm>
            <a:off x="4630993" y="6213546"/>
            <a:ext cx="4778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Cheque details submission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AC3B6345-9CD1-5C43-167E-E4B6161556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4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76"/>
    </mc:Choice>
    <mc:Fallback xmlns="">
      <p:transition spd="slow" advTm="164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7EBFE3-2ED8-CDED-57AB-B509A548E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710DD2-E588-5D2F-6B63-AB079324247F}"/>
              </a:ext>
            </a:extLst>
          </p:cNvPr>
          <p:cNvSpPr txBox="1"/>
          <p:nvPr/>
        </p:nvSpPr>
        <p:spPr>
          <a:xfrm>
            <a:off x="3362633" y="5624052"/>
            <a:ext cx="5614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Admin login for the staff of the bank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AB06B7-DA85-8A01-82CF-E5EF2EB8E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22" y="544185"/>
            <a:ext cx="11080955" cy="5079867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27573627-F2CB-B22B-6F32-95481A53AA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0"/>
    </mc:Choice>
    <mc:Fallback xmlns="">
      <p:transition spd="slow" advTm="61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F807F8-C217-0C6D-102F-E9A4EE4A5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517" y="666539"/>
            <a:ext cx="9842090" cy="4745775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11C098CC-7105-291D-4C8C-F520D2EABA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6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67"/>
    </mc:Choice>
    <mc:Fallback xmlns="">
      <p:transition spd="slow" advTm="79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901638-BB8A-1E66-FBFA-C1BDEB62A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74153"/>
            <a:ext cx="7128387" cy="3148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06F912-2D7D-D50E-344D-E68B43758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1" y="3530013"/>
            <a:ext cx="7534772" cy="3053834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701C5CAB-9993-02B5-8312-6629CEA16B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95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9"/>
    </mc:Choice>
    <mc:Fallback xmlns="">
      <p:transition spd="slow" advTm="81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4F8C4-748C-1548-5677-53890A414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09" y="215555"/>
            <a:ext cx="11149781" cy="5877495"/>
          </a:xfrm>
          <a:prstGeom prst="rect">
            <a:avLst/>
          </a:prstGeom>
        </p:spPr>
      </p:pic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0E9D9042-9824-E3BC-C75E-C75A36426C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1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99"/>
    </mc:Choice>
    <mc:Fallback xmlns="">
      <p:transition spd="slow" advTm="109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734116-4F79-8A2A-9826-AD969BA8C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39" y="1403498"/>
            <a:ext cx="3261804" cy="49136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16DF7C-DB27-8A87-090C-422BB3ED0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6379" y="3716425"/>
            <a:ext cx="1600423" cy="2600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F6FA20-6529-A86A-E125-6D5AF5C95AD9}"/>
              </a:ext>
            </a:extLst>
          </p:cNvPr>
          <p:cNvSpPr txBox="1"/>
          <p:nvPr/>
        </p:nvSpPr>
        <p:spPr>
          <a:xfrm>
            <a:off x="1691665" y="151155"/>
            <a:ext cx="9246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Coding Parts of the website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92595F-E732-339A-4E15-B6E4C54107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1340" y="1393299"/>
            <a:ext cx="3261804" cy="49136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D28847-12D5-F955-F74B-321488D716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147" y="3287741"/>
            <a:ext cx="2448267" cy="30293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75676C-4BD5-2560-2E1E-9E8A61370BCD}"/>
              </a:ext>
            </a:extLst>
          </p:cNvPr>
          <p:cNvSpPr txBox="1"/>
          <p:nvPr/>
        </p:nvSpPr>
        <p:spPr>
          <a:xfrm>
            <a:off x="1158911" y="6317114"/>
            <a:ext cx="326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F6700B-DA45-4EF6-1DE3-49F5931CF476}"/>
              </a:ext>
            </a:extLst>
          </p:cNvPr>
          <p:cNvSpPr txBox="1"/>
          <p:nvPr/>
        </p:nvSpPr>
        <p:spPr>
          <a:xfrm>
            <a:off x="3513651" y="6337513"/>
            <a:ext cx="23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All functions used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5787BE-FC45-16AC-7FA7-3CBC6C126840}"/>
              </a:ext>
            </a:extLst>
          </p:cNvPr>
          <p:cNvSpPr txBox="1"/>
          <p:nvPr/>
        </p:nvSpPr>
        <p:spPr>
          <a:xfrm>
            <a:off x="6430213" y="6317114"/>
            <a:ext cx="244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Database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536592-2F89-C364-241C-06EBF59D32B8}"/>
              </a:ext>
            </a:extLst>
          </p:cNvPr>
          <p:cNvSpPr txBox="1"/>
          <p:nvPr/>
        </p:nvSpPr>
        <p:spPr>
          <a:xfrm rot="10800000" flipH="1" flipV="1">
            <a:off x="9842355" y="6317114"/>
            <a:ext cx="4072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Server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535B0DFB-44C9-6511-E833-313BEA8955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7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42"/>
    </mc:Choice>
    <mc:Fallback xmlns="">
      <p:transition spd="slow" advTm="220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108B6B-9156-8C0A-A6E0-0C376FD430CE}"/>
              </a:ext>
            </a:extLst>
          </p:cNvPr>
          <p:cNvSpPr txBox="1"/>
          <p:nvPr/>
        </p:nvSpPr>
        <p:spPr>
          <a:xfrm>
            <a:off x="1691665" y="151155"/>
            <a:ext cx="92468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Advantages over the</a:t>
            </a:r>
          </a:p>
          <a:p>
            <a:r>
              <a:rPr lang="en-IN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							Existing Websites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76052E-BEAE-C1A1-8020-B86804005FAF}"/>
              </a:ext>
            </a:extLst>
          </p:cNvPr>
          <p:cNvSpPr/>
          <p:nvPr/>
        </p:nvSpPr>
        <p:spPr>
          <a:xfrm>
            <a:off x="3044326" y="1994651"/>
            <a:ext cx="4662760" cy="4188542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55D7BD-B2CA-96C3-9269-73099A946CDE}"/>
              </a:ext>
            </a:extLst>
          </p:cNvPr>
          <p:cNvSpPr/>
          <p:nvPr/>
        </p:nvSpPr>
        <p:spPr>
          <a:xfrm>
            <a:off x="3362577" y="2659747"/>
            <a:ext cx="381491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Multipurpose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E4AF31-D204-A1B2-65F3-F1490C66870A}"/>
              </a:ext>
            </a:extLst>
          </p:cNvPr>
          <p:cNvSpPr txBox="1"/>
          <p:nvPr/>
        </p:nvSpPr>
        <p:spPr>
          <a:xfrm>
            <a:off x="3483503" y="3646136"/>
            <a:ext cx="403528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Our Website has a wide range of features that can be accessed with a click of a button, Same page for both admins and users.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177436-4857-B404-AE1E-DCAD482A9D63}"/>
              </a:ext>
            </a:extLst>
          </p:cNvPr>
          <p:cNvSpPr/>
          <p:nvPr/>
        </p:nvSpPr>
        <p:spPr>
          <a:xfrm>
            <a:off x="8239649" y="3506875"/>
            <a:ext cx="3506874" cy="2110154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A6C891-823A-C73F-F4C2-05AF631F67FE}"/>
              </a:ext>
            </a:extLst>
          </p:cNvPr>
          <p:cNvSpPr txBox="1"/>
          <p:nvPr/>
        </p:nvSpPr>
        <p:spPr>
          <a:xfrm>
            <a:off x="8658128" y="2290415"/>
            <a:ext cx="26864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/>
                </a:solidFill>
                <a:latin typeface="Bookman Old Style" panose="02050604050505020204" pitchFamily="18" charset="0"/>
              </a:rPr>
              <a:t>New feature ! cheques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E3D189-6AA4-7835-4A3F-0F85CD121917}"/>
              </a:ext>
            </a:extLst>
          </p:cNvPr>
          <p:cNvSpPr txBox="1"/>
          <p:nvPr/>
        </p:nvSpPr>
        <p:spPr>
          <a:xfrm>
            <a:off x="8658127" y="4164496"/>
            <a:ext cx="2937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Cheques image can be used as a proof and transfer money.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130F4051-4D86-C39C-2ED0-3D63787E9E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6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54"/>
    </mc:Choice>
    <mc:Fallback xmlns="">
      <p:transition spd="slow" advTm="197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07445F-CCC7-610F-3262-CBBF4E87E863}"/>
              </a:ext>
            </a:extLst>
          </p:cNvPr>
          <p:cNvSpPr txBox="1"/>
          <p:nvPr/>
        </p:nvSpPr>
        <p:spPr>
          <a:xfrm>
            <a:off x="2186578" y="318823"/>
            <a:ext cx="8185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Possible upgrades that can be done to the existing website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FCAED-E0AF-28CD-687C-81079A638628}"/>
              </a:ext>
            </a:extLst>
          </p:cNvPr>
          <p:cNvSpPr txBox="1"/>
          <p:nvPr/>
        </p:nvSpPr>
        <p:spPr>
          <a:xfrm>
            <a:off x="2812774" y="2822713"/>
            <a:ext cx="753386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100" dirty="0"/>
              <a:t>Increasing Security concern for pin storage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100" dirty="0"/>
              <a:t>Add a phone number or message at user credentials are applying.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1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100" dirty="0"/>
              <a:t>Request sending via classes and not through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100" dirty="0"/>
              <a:t>After transaction notifying the user via message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100" dirty="0"/>
              <a:t>Paying loans through the app as an EMI option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100" dirty="0"/>
              <a:t>Adding Service time Notifications of the bank employs</a:t>
            </a:r>
            <a:br>
              <a:rPr lang="en-IN" sz="2100" dirty="0"/>
            </a:br>
            <a:r>
              <a:rPr lang="en-IN" sz="2100" dirty="0" err="1"/>
              <a:t>i.e</a:t>
            </a:r>
            <a:r>
              <a:rPr lang="en-IN" sz="2100" dirty="0"/>
              <a:t> Noting the rush of the bank in the app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100" dirty="0"/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6A083468-C0E5-51D6-6111-3C00F6CEDE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13"/>
    </mc:Choice>
    <mc:Fallback xmlns="">
      <p:transition spd="slow" advTm="194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EAC59A-A257-C6CB-B14F-7CA4B8A363B4}"/>
              </a:ext>
            </a:extLst>
          </p:cNvPr>
          <p:cNvSpPr txBox="1"/>
          <p:nvPr/>
        </p:nvSpPr>
        <p:spPr>
          <a:xfrm>
            <a:off x="2146384" y="590128"/>
            <a:ext cx="8645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Software used in this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EF531-B5D0-3E8E-3851-6B407790CA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114" y="2553073"/>
            <a:ext cx="1845951" cy="23160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D81D5D-744C-3955-6A04-6C10194E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23889" y1="43500" x2="23889" y2="43500"/>
                        <a14:foregroundMark x1="36778" y1="43500" x2="36778" y2="43500"/>
                        <a14:foregroundMark x1="50444" y1="44250" x2="50444" y2="44250"/>
                        <a14:foregroundMark x1="59000" y1="44750" x2="59000" y2="44750"/>
                        <a14:foregroundMark x1="49333" y1="44750" x2="49333" y2="44750"/>
                        <a14:foregroundMark x1="71333" y1="50000" x2="71333" y2="50000"/>
                        <a14:foregroundMark x1="74333" y1="48000" x2="74333" y2="48000"/>
                        <a14:backgroundMark x1="34000" y1="22500" x2="34000" y2="2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065" y="2106805"/>
            <a:ext cx="4420228" cy="19645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B7AE56-A22A-D9DC-88E5-87799285EF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18778" y1="30000" x2="18778" y2="30000"/>
                        <a14:foregroundMark x1="27333" y1="39000" x2="27333" y2="39000"/>
                        <a14:foregroundMark x1="42333" y1="44333" x2="42333" y2="44333"/>
                        <a14:foregroundMark x1="41778" y1="51000" x2="41778" y2="51000"/>
                        <a14:foregroundMark x1="49556" y1="48667" x2="49556" y2="48667"/>
                        <a14:foregroundMark x1="58556" y1="53000" x2="58556" y2="53000"/>
                        <a14:foregroundMark x1="66889" y1="50667" x2="66889" y2="50667"/>
                        <a14:foregroundMark x1="71444" y1="53333" x2="71444" y2="53333"/>
                        <a14:foregroundMark x1="80444" y1="55333" x2="80444" y2="55333"/>
                        <a14:foregroundMark x1="85333" y1="53333" x2="85333" y2="53333"/>
                        <a14:backgroundMark x1="73333" y1="51000" x2="73333" y2="51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805" y="3696601"/>
            <a:ext cx="3517713" cy="11725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DEAF7E-FFEE-0243-55AC-99B7BF2AB5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519" y="3233891"/>
            <a:ext cx="3009496" cy="9254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15752E-5DD8-31C2-06CC-037014FE131A}"/>
              </a:ext>
            </a:extLst>
          </p:cNvPr>
          <p:cNvSpPr txBox="1"/>
          <p:nvPr/>
        </p:nvSpPr>
        <p:spPr>
          <a:xfrm>
            <a:off x="2947114" y="5203299"/>
            <a:ext cx="173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database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52BB6B-6329-D61F-9224-0993EFE2A0F0}"/>
              </a:ext>
            </a:extLst>
          </p:cNvPr>
          <p:cNvSpPr txBox="1"/>
          <p:nvPr/>
        </p:nvSpPr>
        <p:spPr>
          <a:xfrm>
            <a:off x="5946302" y="5009322"/>
            <a:ext cx="2182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connection of database with frontend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C61AF5-CCC1-635C-EB9F-EBFC5841B14C}"/>
              </a:ext>
            </a:extLst>
          </p:cNvPr>
          <p:cNvSpPr txBox="1"/>
          <p:nvPr/>
        </p:nvSpPr>
        <p:spPr>
          <a:xfrm>
            <a:off x="9392478" y="4790661"/>
            <a:ext cx="233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Frontend of the website</a:t>
            </a:r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B0B9E26D-266D-F067-4B01-978798D9F2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6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44"/>
    </mc:Choice>
    <mc:Fallback xmlns="">
      <p:transition spd="slow" advTm="168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92C0BE-01AD-7EC0-F07F-A55FC43CB81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98" y="2234214"/>
            <a:ext cx="12192000" cy="32019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6B0DBE-2663-FA99-6C5D-62F0C7172765}"/>
              </a:ext>
            </a:extLst>
          </p:cNvPr>
          <p:cNvSpPr txBox="1"/>
          <p:nvPr/>
        </p:nvSpPr>
        <p:spPr>
          <a:xfrm>
            <a:off x="2849769" y="248484"/>
            <a:ext cx="8645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Project Progression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BA83A1-2556-6042-04F0-69359DE71778}"/>
              </a:ext>
            </a:extLst>
          </p:cNvPr>
          <p:cNvCxnSpPr>
            <a:cxnSpLocks/>
          </p:cNvCxnSpPr>
          <p:nvPr/>
        </p:nvCxnSpPr>
        <p:spPr>
          <a:xfrm>
            <a:off x="0" y="3882144"/>
            <a:ext cx="121920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698547A-DC2A-3AE1-3ACF-BA4892C3F643}"/>
              </a:ext>
            </a:extLst>
          </p:cNvPr>
          <p:cNvCxnSpPr/>
          <p:nvPr/>
        </p:nvCxnSpPr>
        <p:spPr>
          <a:xfrm rot="16200000" flipV="1">
            <a:off x="423495" y="2346210"/>
            <a:ext cx="2268000" cy="803868"/>
          </a:xfrm>
          <a:prstGeom prst="bentConnector3">
            <a:avLst>
              <a:gd name="adj1" fmla="val 55413"/>
            </a:avLst>
          </a:prstGeom>
          <a:ln w="444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901C5C7-59C9-4E7C-D3A1-216D16E75CCE}"/>
              </a:ext>
            </a:extLst>
          </p:cNvPr>
          <p:cNvCxnSpPr/>
          <p:nvPr/>
        </p:nvCxnSpPr>
        <p:spPr>
          <a:xfrm>
            <a:off x="3567165" y="3882144"/>
            <a:ext cx="0" cy="1781843"/>
          </a:xfrm>
          <a:prstGeom prst="straightConnector1">
            <a:avLst/>
          </a:prstGeom>
          <a:ln w="412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4D62CC-2F5A-1574-672E-62723D2A9FF3}"/>
              </a:ext>
            </a:extLst>
          </p:cNvPr>
          <p:cNvCxnSpPr>
            <a:cxnSpLocks/>
          </p:cNvCxnSpPr>
          <p:nvPr/>
        </p:nvCxnSpPr>
        <p:spPr>
          <a:xfrm flipV="1">
            <a:off x="5184950" y="1868993"/>
            <a:ext cx="0" cy="2013151"/>
          </a:xfrm>
          <a:prstGeom prst="straightConnector1">
            <a:avLst/>
          </a:prstGeom>
          <a:ln w="412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53E3C7-8ADC-1408-E1A0-37BA7877F6F9}"/>
              </a:ext>
            </a:extLst>
          </p:cNvPr>
          <p:cNvCxnSpPr/>
          <p:nvPr/>
        </p:nvCxnSpPr>
        <p:spPr>
          <a:xfrm>
            <a:off x="6782638" y="3882144"/>
            <a:ext cx="0" cy="1751698"/>
          </a:xfrm>
          <a:prstGeom prst="straightConnector1">
            <a:avLst/>
          </a:prstGeom>
          <a:ln w="412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5054CE7C-51F6-220A-A89C-3916692E7E4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974139" y="1697399"/>
            <a:ext cx="2460303" cy="1909188"/>
          </a:xfrm>
          <a:prstGeom prst="bentConnector3">
            <a:avLst/>
          </a:prstGeom>
          <a:ln w="412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4F833D0-2AD9-FC90-EBA3-EB55438F7A32}"/>
              </a:ext>
            </a:extLst>
          </p:cNvPr>
          <p:cNvCxnSpPr>
            <a:cxnSpLocks/>
          </p:cNvCxnSpPr>
          <p:nvPr/>
        </p:nvCxnSpPr>
        <p:spPr>
          <a:xfrm>
            <a:off x="9978013" y="3882144"/>
            <a:ext cx="0" cy="1751698"/>
          </a:xfrm>
          <a:prstGeom prst="straightConnector1">
            <a:avLst/>
          </a:prstGeom>
          <a:ln w="412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FF00A50-13BE-4D39-38A1-4B9A2065D89D}"/>
              </a:ext>
            </a:extLst>
          </p:cNvPr>
          <p:cNvSpPr txBox="1"/>
          <p:nvPr/>
        </p:nvSpPr>
        <p:spPr>
          <a:xfrm>
            <a:off x="2454966" y="5733064"/>
            <a:ext cx="207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Feasibility Study</a:t>
            </a:r>
          </a:p>
          <a:p>
            <a:r>
              <a:rPr lang="en-IN" dirty="0"/>
              <a:t>25-03-25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11B110-3814-CE5E-1710-46912B75723E}"/>
              </a:ext>
            </a:extLst>
          </p:cNvPr>
          <p:cNvSpPr txBox="1"/>
          <p:nvPr/>
        </p:nvSpPr>
        <p:spPr>
          <a:xfrm>
            <a:off x="4532243" y="1079481"/>
            <a:ext cx="2983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Requirement Gathering 27-04-25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CC9FF6-3947-71E0-46CE-9DD94F36CB2A}"/>
              </a:ext>
            </a:extLst>
          </p:cNvPr>
          <p:cNvSpPr txBox="1"/>
          <p:nvPr/>
        </p:nvSpPr>
        <p:spPr>
          <a:xfrm>
            <a:off x="6261652" y="5774635"/>
            <a:ext cx="1676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Coding</a:t>
            </a:r>
            <a:br>
              <a:rPr lang="en-IN" dirty="0"/>
            </a:br>
            <a:r>
              <a:rPr lang="en-IN" dirty="0"/>
              <a:t>4-04-25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43077E-8351-8FFE-E04D-C923C1523BAB}"/>
              </a:ext>
            </a:extLst>
          </p:cNvPr>
          <p:cNvSpPr txBox="1"/>
          <p:nvPr/>
        </p:nvSpPr>
        <p:spPr>
          <a:xfrm>
            <a:off x="9491870" y="592899"/>
            <a:ext cx="1560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Testing </a:t>
            </a:r>
            <a:br>
              <a:rPr lang="en-IN" dirty="0"/>
            </a:br>
            <a:r>
              <a:rPr lang="en-IN" dirty="0"/>
              <a:t>18-04-25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27FAF8-4220-2544-0F05-B36C5DF3F03F}"/>
              </a:ext>
            </a:extLst>
          </p:cNvPr>
          <p:cNvSpPr txBox="1"/>
          <p:nvPr/>
        </p:nvSpPr>
        <p:spPr>
          <a:xfrm>
            <a:off x="9352721" y="5633842"/>
            <a:ext cx="2393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Completion  date</a:t>
            </a:r>
          </a:p>
          <a:p>
            <a:r>
              <a:rPr lang="en-IN" dirty="0"/>
              <a:t>24-04-25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9D633B-14C0-FBCC-09F2-D19238F3DC87}"/>
              </a:ext>
            </a:extLst>
          </p:cNvPr>
          <p:cNvSpPr txBox="1"/>
          <p:nvPr/>
        </p:nvSpPr>
        <p:spPr>
          <a:xfrm>
            <a:off x="248478" y="954682"/>
            <a:ext cx="2464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Date of proposal</a:t>
            </a:r>
            <a:br>
              <a:rPr lang="en-IN" dirty="0"/>
            </a:br>
            <a:r>
              <a:rPr lang="en-IN" dirty="0"/>
              <a:t>1-03-25</a:t>
            </a:r>
          </a:p>
        </p:txBody>
      </p:sp>
      <p:pic>
        <p:nvPicPr>
          <p:cNvPr id="41" name="Audio 40">
            <a:hlinkClick r:id="" action="ppaction://media"/>
            <a:extLst>
              <a:ext uri="{FF2B5EF4-FFF2-40B4-BE49-F238E27FC236}">
                <a16:creationId xmlns:a16="http://schemas.microsoft.com/office/drawing/2014/main" id="{DA53892E-2708-44B8-3285-264552F960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4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90"/>
    </mc:Choice>
    <mc:Fallback xmlns="">
      <p:transition spd="slow" advTm="108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839DA4-2D98-5954-15D0-3BBCA3CAE293}"/>
              </a:ext>
            </a:extLst>
          </p:cNvPr>
          <p:cNvSpPr txBox="1"/>
          <p:nvPr/>
        </p:nvSpPr>
        <p:spPr>
          <a:xfrm>
            <a:off x="3356150" y="452177"/>
            <a:ext cx="4129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ras Demi ITC" panose="020B0805030504020804" pitchFamily="34" charset="0"/>
              </a:rPr>
              <a:t>Conclusion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02DCA1-6A76-59F1-73BF-47E8C67336A0}"/>
              </a:ext>
            </a:extLst>
          </p:cNvPr>
          <p:cNvSpPr/>
          <p:nvPr/>
        </p:nvSpPr>
        <p:spPr>
          <a:xfrm>
            <a:off x="2049864" y="1900592"/>
            <a:ext cx="6461091" cy="4119824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conclusion, our Banking Platform provides a secure, reliable, and user-friendly solution for managing financial needs with ease. With a wide range of features such as online account management, transaction tracking, fund transfers, and customer support, the platform ensures a smooth and convenient banking experience. Evolve our services with new features, we are committed to introducing innovative features and expanding capabilities to meet the growing needs of our users.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D5A292-7FCB-11C6-8ED9-79C4AD2470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932" b="89831" l="9813" r="89720">
                        <a14:foregroundMark x1="53271" y1="14831" x2="53271" y2="14831"/>
                        <a14:foregroundMark x1="55140" y1="5932" x2="55140" y2="5932"/>
                        <a14:foregroundMark x1="33178" y1="28390" x2="33178" y2="28390"/>
                        <a14:foregroundMark x1="72430" y1="35169" x2="72430" y2="35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824" y="66880"/>
            <a:ext cx="1502955" cy="16574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DE2CD74-C145-E18C-06F9-9EF46C9DE2AB}"/>
              </a:ext>
            </a:extLst>
          </p:cNvPr>
          <p:cNvSpPr/>
          <p:nvPr/>
        </p:nvSpPr>
        <p:spPr>
          <a:xfrm>
            <a:off x="9093758" y="1"/>
            <a:ext cx="3098242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73A83C-6BCF-A37E-781C-6827B5EF92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522" b="92609" l="7306" r="95890">
                        <a14:foregroundMark x1="16895" y1="75217" x2="16895" y2="75217"/>
                        <a14:foregroundMark x1="31963" y1="73913" x2="31963" y2="73913"/>
                        <a14:foregroundMark x1="17352" y1="93913" x2="17352" y2="93913"/>
                        <a14:foregroundMark x1="7306" y1="89130" x2="7306" y2="89130"/>
                        <a14:foregroundMark x1="39726" y1="58696" x2="39726" y2="58696"/>
                        <a14:foregroundMark x1="46119" y1="51739" x2="46119" y2="51739"/>
                        <a14:foregroundMark x1="49772" y1="40435" x2="49772" y2="40435"/>
                        <a14:foregroundMark x1="58447" y1="6522" x2="58447" y2="6522"/>
                        <a14:foregroundMark x1="51598" y1="25217" x2="51598" y2="25217"/>
                        <a14:foregroundMark x1="62100" y1="24783" x2="62100" y2="24783"/>
                        <a14:foregroundMark x1="74429" y1="24783" x2="74429" y2="24783"/>
                        <a14:foregroundMark x1="95890" y1="24783" x2="95890" y2="247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758" y="2051860"/>
            <a:ext cx="3098242" cy="3253861"/>
          </a:xfrm>
          <a:prstGeom prst="rect">
            <a:avLst/>
          </a:prstGeom>
        </p:spPr>
      </p:pic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867B4286-C71A-4D94-19F8-8F79B3DBD1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7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974"/>
    </mc:Choice>
    <mc:Fallback xmlns="">
      <p:transition spd="slow" advTm="239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A991C09CFADA4CBADAF2F2F0DFE5DD" ma:contentTypeVersion="7" ma:contentTypeDescription="Create a new document." ma:contentTypeScope="" ma:versionID="6a8c647549a048a2eea69f65c69ae61e">
  <xsd:schema xmlns:xsd="http://www.w3.org/2001/XMLSchema" xmlns:xs="http://www.w3.org/2001/XMLSchema" xmlns:p="http://schemas.microsoft.com/office/2006/metadata/properties" xmlns:ns2="cbaec632-57ea-420a-9e18-827a5dc55218" targetNamespace="http://schemas.microsoft.com/office/2006/metadata/properties" ma:root="true" ma:fieldsID="3b28e4a0556508fe451b6475d0a91d53" ns2:_="">
    <xsd:import namespace="cbaec632-57ea-420a-9e18-827a5dc552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aec632-57ea-420a-9e18-827a5dc552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02DC445-370E-4011-8F91-75C3E3E95C2B}"/>
</file>

<file path=customXml/itemProps2.xml><?xml version="1.0" encoding="utf-8"?>
<ds:datastoreItem xmlns:ds="http://schemas.openxmlformats.org/officeDocument/2006/customXml" ds:itemID="{44435D8D-2E88-4724-A213-1DBEB5206FB4}"/>
</file>

<file path=customXml/itemProps3.xml><?xml version="1.0" encoding="utf-8"?>
<ds:datastoreItem xmlns:ds="http://schemas.openxmlformats.org/officeDocument/2006/customXml" ds:itemID="{89E82668-8A41-4EE8-AEEB-DE3D88B4EF27}"/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531</TotalTime>
  <Words>441</Words>
  <Application>Microsoft Office PowerPoint</Application>
  <PresentationFormat>Widescreen</PresentationFormat>
  <Paragraphs>59</Paragraphs>
  <Slides>21</Slides>
  <Notes>0</Notes>
  <HiddenSlides>0</HiddenSlides>
  <MMClips>21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Bookman Old Style</vt:lpstr>
      <vt:lpstr>Century Gothic</vt:lpstr>
      <vt:lpstr>Eras Demi ITC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REDDI NIKHIL KUMAR</dc:creator>
  <cp:lastModifiedBy>REDDI NIKHIL KUMAR</cp:lastModifiedBy>
  <cp:revision>7</cp:revision>
  <dcterms:created xsi:type="dcterms:W3CDTF">2025-04-24T18:56:30Z</dcterms:created>
  <dcterms:modified xsi:type="dcterms:W3CDTF">2025-04-25T05:35:39Z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0x0101000AA991C09CFADA4CBADAF2F2F0DFE5DD</vt:lpwstr>
  </property>
</Properties>
</file>